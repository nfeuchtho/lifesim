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3317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5BA8E0"/>
                </a:solidFill>
                <a:latin typeface="Calibri"/>
              </a:rPr>
              <a:t>LIFESIM / 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EAEEF2"/>
                </a:solidFill>
                <a:latin typeface="Calibri"/>
              </a:rPr>
              <a:t>Analytic (grid-free) astrophysical noise rewrite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118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8A96A3"/>
                </a:solidFill>
                <a:latin typeface="Calibri"/>
              </a:rPr>
              <a:t>Removing the pixel-grid integration from star-leakage, local-zodi and exozodi noise — closed-form / low-order quadrature, ~5x faster, one bug found along the way.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035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06B6B"/>
                </a:solidFill>
                <a:latin typeface="Calibri"/>
              </a:rPr>
              <a:t>Status: implemented, self-consistent, NOT yet supervisor-approved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A96A3"/>
                </a:solidFill>
                <a:latin typeface="Calibri"/>
              </a:rPr>
              <a:t>LIFEsim / AMS — analytic noise rewrite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1052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96A3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5BA8E0"/>
                </a:solidFill>
                <a:latin typeface="Calibri"/>
              </a:rPr>
              <a:t>1 · ORIGIN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AEEF2"/>
                </a:solidFill>
                <a:latin typeface="Calibri"/>
              </a:rPr>
              <a:t>Where this started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71600"/>
            <a:ext cx="11091672" cy="0"/>
          </a:xfrm>
          <a:prstGeom prst="line">
            <a:avLst/>
          </a:prstGeom>
          <a:ln w="12700">
            <a:solidFill>
              <a:srgbClr val="2A35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691640"/>
            <a:ext cx="6766560" cy="4114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EAEEF2"/>
                </a:solidFill>
                <a:latin typeface="Calibri"/>
              </a:rPr>
              <a:t>▸  Original question: sample transmission map at bin-center λ, or integrate T(λ)·spectrum(λ) over each bin?</a:t>
            </a:r>
          </a:p>
          <a:p>
            <a:pPr>
              <a:spcAft>
                <a:spcPts val="600"/>
              </a:spcAft>
            </a:pPr>
            <a:r>
              <a:rPr sz="1450">
                <a:solidFill>
                  <a:srgbClr val="8A96A3"/>
                </a:solidFill>
                <a:latin typeface="Calibri"/>
              </a:rPr>
              <a:t>–  Answer: no closed form — T(λ) is trig in 1/λ, source spectrum is Planck. No clean product integral.</a:t>
            </a:r>
          </a:p>
          <a:p>
            <a:pPr>
              <a:spcAft>
                <a:spcPts val="600"/>
              </a:spcAft>
            </a:pPr>
            <a:r>
              <a:rPr sz="1450">
                <a:solidFill>
                  <a:srgbClr val="8A96A3"/>
                </a:solidFill>
                <a:latin typeface="Calibri"/>
              </a:rPr>
              <a:t>–  Quadrature would need re-evaluating the full 2D grid per extra λ node — more expensive, not less.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EAEEF2"/>
                </a:solidFill>
                <a:latin typeface="Calibri"/>
              </a:rPr>
              <a:t>▸  Reframed the question: is the image_size × image_size spatial grid itself avoidable?</a:t>
            </a:r>
          </a:p>
          <a:p>
            <a:pPr>
              <a:spcAft>
                <a:spcPts val="600"/>
              </a:spcAft>
            </a:pPr>
            <a:r>
              <a:rPr sz="1450">
                <a:solidFill>
                  <a:srgbClr val="8A96A3"/>
                </a:solidFill>
                <a:latin typeface="Calibri"/>
              </a:rPr>
              <a:t>–  Answer: yes, analytically, for all three astrophysical noise terms.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1691640"/>
            <a:ext cx="4023360" cy="4114800"/>
          </a:xfrm>
          <a:prstGeom prst="roundRect">
            <a:avLst>
              <a:gd name="adj" fmla="val 6000"/>
            </a:avLst>
          </a:prstGeom>
          <a:solidFill>
            <a:srgbClr val="1A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0" y="1874519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5BA8E0"/>
                </a:solidFill>
                <a:latin typeface="Calibri"/>
              </a:rPr>
              <a:t>WHY IT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2286000"/>
            <a:ext cx="356616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EAEEF2"/>
                </a:solidFill>
                <a:latin typeface="Calibri"/>
              </a:rPr>
              <a:t>Star leak, local-zodi, exozodi are each computed as a transmission map integral against a circularly symmetric source — uniform stellar disk, uniform local-zodi flux, or the radially symmetric Kennedy+2015 exozodi profile.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EAEEF2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EAEEF2"/>
                </a:solidFill>
                <a:latin typeface="Calibri"/>
              </a:rPr>
              <a:t>Circular symmetry is exactly the condition under which a 2D grid sum collapses to a 1D (or 0D) closed form.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A96A3"/>
                </a:solidFill>
                <a:latin typeface="Calibri"/>
              </a:rPr>
              <a:t>LIFEsim / AMS — analytic noise rewrite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51052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96A3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5BA8E0"/>
                </a:solidFill>
                <a:latin typeface="Calibri"/>
              </a:rPr>
              <a:t>2 · CORE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AEEF2"/>
                </a:solidFill>
                <a:latin typeface="Calibri"/>
              </a:rPr>
              <a:t>Rotation-average ≡ static radial integral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71600"/>
            <a:ext cx="11091672" cy="0"/>
          </a:xfrm>
          <a:prstGeom prst="line">
            <a:avLst/>
          </a:prstGeom>
          <a:ln w="12700">
            <a:solidFill>
              <a:srgbClr val="2A35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60020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8A96A3"/>
                </a:solidFill>
                <a:latin typeface="Calibri"/>
              </a:rPr>
              <a:t>For a circularly symmetric source, azimuthally averaging T(α,β) over the array's rotation gives the same value as a single static snapshot integrated over the source's radial coordinate.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331720"/>
            <a:ext cx="10789920" cy="1417320"/>
          </a:xfrm>
          <a:prstGeom prst="roundRect">
            <a:avLst>
              <a:gd name="adj" fmla="val 6000"/>
            </a:avLst>
          </a:prstGeom>
          <a:solidFill>
            <a:srgbClr val="10161D"/>
          </a:solidFill>
          <a:ln w="12700">
            <a:solidFill>
              <a:srgbClr val="2A3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459736"/>
            <a:ext cx="10387584" cy="1161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>
                <a:solidFill>
                  <a:srgbClr val="C9E3F7"/>
                </a:solidFill>
                <a:latin typeface="Consolas"/>
              </a:rPr>
              <a:t>tm3 = sin(2πLα/λ)² · cos(2·ratio·πLβ/λ − π/4)²      α=r·cosθ, β=r·sinθ, L=baseline/2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C9E3F7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C9E3F7"/>
                </a:solidFill>
                <a:latin typeface="Consolas"/>
              </a:rPr>
              <a:t>Jacobi-Anger expansion + average over θ → all harmonics vanish, DC term survives: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C9E3F7"/>
                </a:solidFill>
                <a:latin typeface="Consolas"/>
              </a:rPr>
              <a:t>⟨tm3⟩_θ(r) = ⟨tm4⟩_θ(r) = ¼ · (1 − J₀(4πLr/λ))          independent of ratio, chop phase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977639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8A96A3"/>
                </a:solidFill>
                <a:latin typeface="Calibri"/>
              </a:rPr>
              <a:t>Then, for a uniform disk radius R: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297680"/>
            <a:ext cx="10789920" cy="685800"/>
          </a:xfrm>
          <a:prstGeom prst="roundRect">
            <a:avLst>
              <a:gd name="adj" fmla="val 6000"/>
            </a:avLst>
          </a:prstGeom>
          <a:solidFill>
            <a:srgbClr val="10161D"/>
          </a:solidFill>
          <a:ln w="12700">
            <a:solidFill>
              <a:srgbClr val="2A3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4425696"/>
            <a:ext cx="10387584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600">
                <a:solidFill>
                  <a:srgbClr val="C9E3F7"/>
                </a:solidFill>
                <a:latin typeface="Consolas"/>
              </a:rPr>
              <a:t>⟨tm3⟩_disk(R) = ¼ · (1 − 2J₁(kR)/kR)      k = 2π·baseline/λ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257800"/>
            <a:ext cx="3383280" cy="1051560"/>
          </a:xfrm>
          <a:prstGeom prst="roundRect">
            <a:avLst>
              <a:gd name="adj" fmla="val 6000"/>
            </a:avLst>
          </a:prstGeom>
          <a:solidFill>
            <a:srgbClr val="1A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367528"/>
            <a:ext cx="30175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6FC28A"/>
                </a:solidFill>
                <a:latin typeface="Calibri"/>
              </a:rPr>
              <a:t>IS² → O(1)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925312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A96A3"/>
                </a:solidFill>
                <a:latin typeface="Calibri"/>
              </a:rPr>
              <a:t>closed form (no-taper disk case)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0" y="5257800"/>
            <a:ext cx="3383280" cy="1051560"/>
          </a:xfrm>
          <a:prstGeom prst="roundRect">
            <a:avLst>
              <a:gd name="adj" fmla="val 6000"/>
            </a:avLst>
          </a:prstGeom>
          <a:solidFill>
            <a:srgbClr val="1A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5367528"/>
            <a:ext cx="30175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5BA8E0"/>
                </a:solidFill>
                <a:latin typeface="Calibri"/>
              </a:rPr>
              <a:t>IS² → 200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5925312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A96A3"/>
                </a:solidFill>
                <a:latin typeface="Calibri"/>
              </a:rPr>
              <a:t>point radial quadrature (gaussian taper)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80960" y="5257800"/>
            <a:ext cx="3657600" cy="1051560"/>
          </a:xfrm>
          <a:prstGeom prst="roundRect">
            <a:avLst>
              <a:gd name="adj" fmla="val 6000"/>
            </a:avLst>
          </a:prstGeom>
          <a:solidFill>
            <a:srgbClr val="1A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5367528"/>
            <a:ext cx="32918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09A5B"/>
                </a:solidFill>
                <a:latin typeface="Calibri"/>
              </a:rPr>
              <a:t>~5x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5925312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A96A3"/>
                </a:solidFill>
                <a:latin typeface="Calibri"/>
              </a:rPr>
              <a:t>net speedup on full get_snr call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A96A3"/>
                </a:solidFill>
                <a:latin typeface="Calibri"/>
              </a:rPr>
              <a:t>LIFEsim / AMS — analytic noise rewrite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51052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96A3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06B6B"/>
                </a:solidFill>
                <a:latin typeface="Calibri"/>
              </a:rPr>
              <a:t>2 · FRAMING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AEEF2"/>
                </a:solidFill>
                <a:latin typeface="Calibri"/>
              </a:rPr>
              <a:t>“Rotation averaging” — careful with the phrase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71600"/>
            <a:ext cx="11091672" cy="0"/>
          </a:xfrm>
          <a:prstGeom prst="line">
            <a:avLst/>
          </a:prstGeom>
          <a:ln w="12700">
            <a:solidFill>
              <a:srgbClr val="2A35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691640"/>
            <a:ext cx="6858000" cy="4206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550">
                <a:solidFill>
                  <a:srgbClr val="EAEEF2"/>
                </a:solidFill>
                <a:latin typeface="Calibri"/>
              </a:rPr>
              <a:t>▸  Lay (2004) and Dannert et al. (2022, LIFE paper II) do NOT call this a rotation average.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8A96A3"/>
                </a:solidFill>
                <a:latin typeface="Calibri"/>
              </a:rPr>
              <a:t>–  Star/local-zodi leakage is a DC term — rotation modulates the planet signal for chopping, not the background.</a:t>
            </a:r>
          </a:p>
          <a:p>
            <a:pPr>
              <a:spcAft>
                <a:spcPts val="600"/>
              </a:spcAft>
            </a:pPr>
            <a:r>
              <a:rPr sz="1550">
                <a:solidFill>
                  <a:srgbClr val="EAEEF2"/>
                </a:solidFill>
                <a:latin typeface="Calibri"/>
              </a:rPr>
              <a:t>▸  Noise terms are rotation-invariant BY CONSTRUCTION, given circular source symmetry — not rotation-averaged as a physical process.</a:t>
            </a:r>
          </a:p>
          <a:p>
            <a:pPr>
              <a:spcAft>
                <a:spcPts val="600"/>
              </a:spcAft>
            </a:pPr>
            <a:r>
              <a:rPr sz="1550">
                <a:solidFill>
                  <a:srgbClr val="EAEEF2"/>
                </a:solidFill>
                <a:latin typeface="Calibri"/>
              </a:rPr>
              <a:t>▸  The math is identical either way (same integral, relabeled variable) — so the numbers are correct.</a:t>
            </a:r>
          </a:p>
          <a:p>
            <a:pPr>
              <a:spcAft>
                <a:spcPts val="600"/>
              </a:spcAft>
            </a:pPr>
            <a:r>
              <a:rPr sz="1550">
                <a:solidFill>
                  <a:srgbClr val="EAEEF2"/>
                </a:solidFill>
                <a:latin typeface="Calibri"/>
              </a:rPr>
              <a:t>▸  But the physical justification in the thesis should follow the papers' framing, not “rotation performs an average.”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1691640"/>
            <a:ext cx="4023360" cy="4206240"/>
          </a:xfrm>
          <a:prstGeom prst="roundRect">
            <a:avLst>
              <a:gd name="adj" fmla="val 6000"/>
            </a:avLst>
          </a:prstGeom>
          <a:solidFill>
            <a:srgbClr val="1A222B"/>
          </a:solidFill>
          <a:ln w="12700">
            <a:solidFill>
              <a:srgbClr val="E0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0" y="1874519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06B6B"/>
                </a:solidFill>
                <a:latin typeface="Calibri"/>
              </a:rPr>
              <a:t>CAVEAT FOR OUTLOOK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2286000"/>
            <a:ext cx="356616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AEEF2"/>
                </a:solidFill>
                <a:latin typeface="Calibri"/>
              </a:rPr>
              <a:t>Lay (2004): an inclined/elliptical exozodi disk produces genuine even-harmonic rotation modulation — reduces to DC only under central symmetry.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EAEEF2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EAEEF2"/>
                </a:solidFill>
                <a:latin typeface="Calibri"/>
              </a:rPr>
              <a:t>LIFE paper II's default (and this rewrite) assumes a symmetric, face-on exozodi. A future inclined-disk model would need the full angle-resolved integral back for that term specifically.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A96A3"/>
                </a:solidFill>
                <a:latin typeface="Calibri"/>
              </a:rPr>
              <a:t>LIFEsim / AMS — analytic noise rewrite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51052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96A3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5BA8E0"/>
                </a:solidFill>
                <a:latin typeface="Calibri"/>
              </a:rPr>
              <a:t>3 · GEOMETRY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AEEF2"/>
                </a:solidFill>
                <a:latin typeface="Calibri"/>
              </a:rPr>
              <a:t>Circular FoV on a square detector — is that a mismatch?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71600"/>
            <a:ext cx="11091672" cy="0"/>
          </a:xfrm>
          <a:prstGeom prst="line">
            <a:avLst/>
          </a:prstGeom>
          <a:ln w="12700">
            <a:solidFill>
              <a:srgbClr val="2A35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600200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6FC28A"/>
                </a:solidFill>
                <a:latin typeface="Calibri"/>
              </a:rPr>
              <a:t>No — they are two different stages of the signal chain, and always were.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48840"/>
            <a:ext cx="5394960" cy="4023360"/>
          </a:xfrm>
          <a:prstGeom prst="roundRect">
            <a:avLst>
              <a:gd name="adj" fmla="val 6000"/>
            </a:avLst>
          </a:prstGeom>
          <a:solidFill>
            <a:srgbClr val="1A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33172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5BA8E0"/>
                </a:solidFill>
                <a:latin typeface="Calibri"/>
              </a:rPr>
              <a:t>SKY-PLANE COUPLING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43200"/>
            <a:ext cx="493776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EAEEF2"/>
                </a:solidFill>
                <a:latin typeface="Calibri"/>
              </a:rPr>
              <a:t>FoV = λ/D in diameter — light coupled into single-mode fibers.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EAEEF2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EAEEF2"/>
                </a:solidFill>
                <a:latin typeface="Calibri"/>
              </a:rPr>
              <a:t>A single-mode fiber has one spatial mode: its angular coupling-efficiency profile is intrinsically circularly symmetric (≈ Gaussian for a step-index fiber — this is where fov_taper='gaussian' comes from).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EAEEF2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EAEEF2"/>
                </a:solidFill>
                <a:latin typeface="Calibri"/>
              </a:rPr>
              <a:t>image_size was always a numerical grid discretizing this integral — never a model of real hardware.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148840"/>
            <a:ext cx="5394960" cy="4023360"/>
          </a:xfrm>
          <a:prstGeom prst="roundRect">
            <a:avLst>
              <a:gd name="adj" fmla="val 6000"/>
            </a:avLst>
          </a:prstGeom>
          <a:solidFill>
            <a:srgbClr val="1A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33172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09A5B"/>
                </a:solidFill>
                <a:latin typeface="Calibri"/>
              </a:rPr>
              <a:t>REAL DETECTOR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743200"/>
            <a:ext cx="493776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EAEEF2"/>
                </a:solidFill>
                <a:latin typeface="Calibri"/>
              </a:rPr>
              <a:t>pixel_size = 23μm, pix_per_wl = 2.2 — used only in pn_thermal.py / en_darkcurrent.py.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EAEEF2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EAEEF2"/>
                </a:solidFill>
                <a:latin typeface="Calibri"/>
              </a:rPr>
              <a:t>This is the spectrometer detector recording the dispersed spectrum after the fiber output: a 1D wavelength axis, not a 2D sky image.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EAEEF2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EAEEF2"/>
                </a:solidFill>
                <a:latin typeface="Calibri"/>
              </a:rPr>
              <a:t>Completely independent parameter family from image_size. Never touched by this rewrite.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A96A3"/>
                </a:solidFill>
                <a:latin typeface="Calibri"/>
              </a:rPr>
              <a:t>LIFEsim / AMS — analytic noise rewrite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51052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96A3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06B6B"/>
                </a:solidFill>
                <a:latin typeface="Calibri"/>
              </a:rPr>
              <a:t>4 · BUG FOUND DURING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AEEF2"/>
                </a:solidFill>
                <a:latin typeface="Calibri"/>
              </a:rPr>
              <a:t>Local-zodi noise under-computed by ~27%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71600"/>
            <a:ext cx="11091672" cy="0"/>
          </a:xfrm>
          <a:prstGeom prst="line">
            <a:avLst/>
          </a:prstGeom>
          <a:ln w="12700">
            <a:solidFill>
              <a:srgbClr val="2A35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48640" y="1600200"/>
            <a:ext cx="2651760" cy="1188720"/>
          </a:xfrm>
          <a:prstGeom prst="roundRect">
            <a:avLst>
              <a:gd name="adj" fmla="val 6000"/>
            </a:avLst>
          </a:prstGeom>
          <a:solidFill>
            <a:srgbClr val="1A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09928"/>
            <a:ext cx="2286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06B6B"/>
                </a:solidFill>
                <a:latin typeface="Calibri"/>
              </a:rPr>
              <a:t>4/π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04872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A96A3"/>
                </a:solidFill>
                <a:latin typeface="Calibri"/>
              </a:rPr>
              <a:t>≈ 1.273× correction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1645920"/>
            <a:ext cx="7863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>
                <a:solidFill>
                  <a:srgbClr val="EAEEF2"/>
                </a:solidFill>
                <a:latin typeface="Calibri"/>
              </a:rPr>
              <a:t>Found while validating the analytic rewrite: star-leak and exozodi converged cleanly to the closed form as grid resolution increased. Local-zodi didn't — it disagreed by a constant factor regardless of resolution. Not a discretization effect — a real bug.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80360"/>
            <a:ext cx="10789920" cy="1371600"/>
          </a:xfrm>
          <a:prstGeom prst="roundRect">
            <a:avLst>
              <a:gd name="adj" fmla="val 6000"/>
            </a:avLst>
          </a:prstGeom>
          <a:solidFill>
            <a:srgbClr val="10161D"/>
          </a:solidFill>
          <a:ln w="12700">
            <a:solidFill>
              <a:srgbClr val="2A3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3008376"/>
            <a:ext cx="10387584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>
                <a:solidFill>
                  <a:srgbClr val="C9E3F7"/>
                </a:solidFill>
                <a:latin typeface="Consolas"/>
              </a:rPr>
              <a:t>lz_flux = lz_flux_sr * (π * image_angle**2)              # assumes a CIRCULAR aperture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C9E3F7"/>
                </a:solidFill>
                <a:latin typeface="Consolas"/>
              </a:rPr>
              <a:t>lz_leak = (ap * t_map).sum() / ap.sum() * lz_flux * area   # ap.sum() is a SQUARE pixel count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C9E3F7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C9E3F7"/>
                </a:solidFill>
                <a:latin typeface="Consolas"/>
              </a:rPr>
              <a:t># under fov_taper='gaussian' (the default): ap = ones_like(radius_map)  — no circular mask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434840"/>
            <a:ext cx="10789920" cy="1737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EAEEF2"/>
                </a:solidFill>
                <a:latin typeface="Calibri"/>
              </a:rPr>
              <a:t>▸  ap.sum() = area of a 2·image_angle square (4·image_angle²), but lz_flux assumes π·image_angle² (circle).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EAEEF2"/>
                </a:solidFill>
                <a:latin typeface="Calibri"/>
              </a:rPr>
              <a:t>▸  Net factor: (π·image_angle²)/(4·image_angle²) = π/4 ≈ 0.785 — noise under-computed by 4/π ≈ 1.273×.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EAEEF2"/>
                </a:solidFill>
                <a:latin typeface="Calibri"/>
              </a:rPr>
              <a:t>▸  Confirmed numerically: measured ratio 1.268 → converges to exact 1.2732 as grid resolution → ∞.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A96A3"/>
                </a:solidFill>
                <a:latin typeface="Calibri"/>
              </a:rPr>
              <a:t>LIFEsim / AMS — analytic noise rewrite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51052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96A3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06B6B"/>
                </a:solidFill>
                <a:latin typeface="Calibri"/>
              </a:rPr>
              <a:t>4 ·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AEEF2"/>
                </a:solidFill>
                <a:latin typeface="Calibri"/>
              </a:rPr>
              <a:t>Why this is a genuine bug, not a modeling choice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71600"/>
            <a:ext cx="11091672" cy="0"/>
          </a:xfrm>
          <a:prstGeom prst="line">
            <a:avLst/>
          </a:prstGeom>
          <a:ln w="12700">
            <a:solidFill>
              <a:srgbClr val="2A35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48640" y="1645920"/>
            <a:ext cx="5394960" cy="4206240"/>
          </a:xfrm>
          <a:prstGeom prst="roundRect">
            <a:avLst>
              <a:gd name="adj" fmla="val 6000"/>
            </a:avLst>
          </a:prstGeom>
          <a:solidFill>
            <a:srgbClr val="1A222B"/>
          </a:solidFill>
          <a:ln w="12700">
            <a:solidFill>
              <a:srgbClr val="6FC2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6FC28A"/>
                </a:solidFill>
                <a:latin typeface="Calibri"/>
              </a:rPr>
              <a:t>PAPER CHECK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40280"/>
            <a:ext cx="4937760" cy="3520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>
                <a:solidFill>
                  <a:srgbClr val="EAEEF2"/>
                </a:solidFill>
                <a:latin typeface="Calibri"/>
              </a:rPr>
              <a:t>Dannert et al. (2022), Eq. 17 (= Dannert thesis Eq. 3.17):</a:t>
            </a:r>
          </a:p>
          <a:p>
            <a:pPr algn="l">
              <a:lnSpc>
                <a:spcPct val="118000"/>
              </a:lnSpc>
            </a:pPr>
            <a:r>
              <a:rPr sz="1350" b="0">
                <a:solidFill>
                  <a:srgbClr val="EAEEF2"/>
                </a:solidFill>
                <a:latin typeface="Calibri"/>
              </a:rPr>
              <a:t>S(λ) = ∫Tm(θ,λ)·I(θ,λ)·t·A·η dΩ</a:t>
            </a:r>
          </a:p>
          <a:p>
            <a:pPr algn="l">
              <a:lnSpc>
                <a:spcPct val="118000"/>
              </a:lnSpc>
            </a:pPr>
            <a:r>
              <a:rPr sz="1350" b="0">
                <a:solidFill>
                  <a:srgbClr val="EAEEF2"/>
                </a:solidFill>
                <a:latin typeface="Calibri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350" b="0">
                <a:solidFill>
                  <a:srgbClr val="EAEEF2"/>
                </a:solidFill>
                <a:latin typeface="Calibri"/>
              </a:rPr>
              <a:t>— FoV = λ/D diameter, justified by single-mode-fiber coupling. A fiber mode's coupling profile is azimuthally symmetric by construction. No basis for a square domain anywhere in the paper.</a:t>
            </a:r>
          </a:p>
          <a:p>
            <a:pPr algn="l">
              <a:lnSpc>
                <a:spcPct val="118000"/>
              </a:lnSpc>
            </a:pPr>
            <a:r>
              <a:rPr sz="1350" b="0">
                <a:solidFill>
                  <a:srgbClr val="EAEEF2"/>
                </a:solidFill>
                <a:latin typeface="Calibri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350" b="0">
                <a:solidFill>
                  <a:srgbClr val="EAEEF2"/>
                </a:solidFill>
                <a:latin typeface="Calibri"/>
              </a:rPr>
              <a:t>The paper's “2D artificial image” remark describes how the OLD CODE discretized the integral — not a claim the true aperture is square.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45920"/>
            <a:ext cx="5394960" cy="4206240"/>
          </a:xfrm>
          <a:prstGeom prst="roundRect">
            <a:avLst>
              <a:gd name="adj" fmla="val 6000"/>
            </a:avLst>
          </a:prstGeom>
          <a:solidFill>
            <a:srgbClr val="1A222B"/>
          </a:solidFill>
          <a:ln w="12700">
            <a:solidFill>
              <a:srgbClr val="6FC2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82880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6FC28A"/>
                </a:solidFill>
                <a:latin typeface="Calibri"/>
              </a:rPr>
              <a:t>SELF-CONSISTENCY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240280"/>
            <a:ext cx="4937760" cy="3520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>
                <a:solidFill>
                  <a:srgbClr val="EAEEF2"/>
                </a:solidFill>
                <a:latin typeface="Calibri"/>
              </a:rPr>
              <a:t>The old code's own fov_taper='none' branch masks ap to a circular disk — exactly matching the π·image_angle² prefactor. Self-consistent.</a:t>
            </a:r>
          </a:p>
          <a:p>
            <a:pPr algn="l">
              <a:lnSpc>
                <a:spcPct val="118000"/>
              </a:lnSpc>
            </a:pPr>
            <a:r>
              <a:rPr sz="1350" b="0">
                <a:solidFill>
                  <a:srgbClr val="EAEEF2"/>
                </a:solidFill>
                <a:latin typeface="Calibri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350" b="0">
                <a:solidFill>
                  <a:srgbClr val="EAEEF2"/>
                </a:solidFill>
                <a:latin typeface="Calibri"/>
              </a:rPr>
              <a:t>Only fov_taper='gaussian' (LIFEsim's DEFAULT) drops the mask.</a:t>
            </a:r>
          </a:p>
          <a:p>
            <a:pPr algn="l">
              <a:lnSpc>
                <a:spcPct val="118000"/>
              </a:lnSpc>
            </a:pPr>
            <a:r>
              <a:rPr sz="1350" b="0">
                <a:solidFill>
                  <a:srgbClr val="EAEEF2"/>
                </a:solidFill>
                <a:latin typeface="Calibri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350" b="0">
                <a:solidFill>
                  <a:srgbClr val="EAEEF2"/>
                </a:solidFill>
                <a:latin typeface="Calibri"/>
              </a:rPr>
              <a:t>If a square domain were the intended convention, the 'none' branch would use one too — it doesn't. The code disagrees with itself. That's the strongest evidence this is an implementation bug, localized to the gaussian-taper path.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A96A3"/>
                </a:solidFill>
                <a:latin typeface="Calibri"/>
              </a:rPr>
              <a:t>LIFEsim / AMS — analytic noise rewrite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51052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96A3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5BA8E0"/>
                </a:solidFill>
                <a:latin typeface="Calibri"/>
              </a:rPr>
              <a:t>5 · BUG INTRODUCED + FIXED DURING THIS REWRITE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AEEF2"/>
                </a:solidFill>
                <a:latin typeface="Calibri"/>
              </a:rPr>
              <a:t>Exozodi: linear quadrature undersampled the cusp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71600"/>
            <a:ext cx="11091672" cy="0"/>
          </a:xfrm>
          <a:prstGeom prst="line">
            <a:avLst/>
          </a:prstGeom>
          <a:ln w="12700">
            <a:solidFill>
              <a:srgbClr val="2A35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691640"/>
            <a:ext cx="6675120" cy="4206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EAEEF2"/>
                </a:solidFill>
                <a:latin typeface="Calibri"/>
              </a:rPr>
              <a:t>▸  Kennedy+2015 profile: temp ~ r⁻⁰˙⁵, σ ~ r⁻⁰˙³⁴, diverging toward inner cutoff r_in.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EAEEF2"/>
                </a:solidFill>
                <a:latin typeface="Calibri"/>
              </a:rPr>
              <a:t>▸  First implementation: uniform-in-r quadrature — badly undersamples the steep near-r_in region when r_in is small vs. FoV (common for low-luminosity stars).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EAEEF2"/>
                </a:solidFill>
                <a:latin typeface="Calibri"/>
              </a:rPr>
              <a:t>▸  Found via 25-star convergence sweep, not the initial single-star check — errors up to 35% for some stars.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EAEEF2"/>
                </a:solidFill>
                <a:latin typeface="Calibri"/>
              </a:rPr>
              <a:t>▸  Fix: log-spaced radial samples, r = r_in·(R/r_in)ᵘ, u uniform on [0,1].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EAEEF2"/>
                </a:solidFill>
                <a:latin typeface="Calibri"/>
              </a:rPr>
              <a:t>▸  Post-fix: worst-case deviation 35% → ~1-3%, consistent with the OLD grid's own known aliasing (not new-code error).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52360" y="1691640"/>
            <a:ext cx="4206240" cy="4206240"/>
          </a:xfrm>
          <a:prstGeom prst="roundRect">
            <a:avLst>
              <a:gd name="adj" fmla="val 6000"/>
            </a:avLst>
          </a:prstGeom>
          <a:solidFill>
            <a:srgbClr val="1A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874519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5BA8E0"/>
                </a:solidFill>
                <a:latin typeface="Calibri"/>
              </a:rPr>
              <a:t>SELF-CONVERGENCE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2286000"/>
            <a:ext cx="3749039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EAEEF2"/>
                </a:solidFill>
                <a:latin typeface="Calibri"/>
              </a:rPr>
              <a:t>n_r = 200 (current) reproduces a 500,000-point reference to 5 significant figures at the worst case found.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EAEEF2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EAEEF2"/>
                </a:solidFill>
                <a:latin typeface="Calibri"/>
              </a:rPr>
              <a:t>This one caught and fixed inside this work — not a pre-existing / literature-facing issue like local-zodi. Included here for completeness of the QA story.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A96A3"/>
                </a:solidFill>
                <a:latin typeface="Calibri"/>
              </a:rPr>
              <a:t>LIFEsim / AMS — analytic noise rewrite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51052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96A3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5BA8E0"/>
                </a:solidFill>
                <a:latin typeface="Calibri"/>
              </a:rPr>
              <a:t>9 · REVISITED ONCE CHEAP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AEEF2"/>
                </a:solidFill>
                <a:latin typeface="Calibri"/>
              </a:rPr>
              <a:t>Wavelength-bin integration: the chirp fix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71600"/>
            <a:ext cx="11091672" cy="0"/>
          </a:xfrm>
          <a:prstGeom prst="line">
            <a:avLst/>
          </a:prstGeom>
          <a:ln w="12700">
            <a:solidFill>
              <a:srgbClr val="2A35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64592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8A96A3"/>
                </a:solidFill>
                <a:latin typeface="Calibri"/>
              </a:rPr>
              <a:t>Section 1's objection (“extra λ nodes are too expensive”) no longer holds — after the spatial rewrite, transmission terms are O(1) or a cheap 200-pt quadrature, so extra λ nodes are nearly free.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423160"/>
            <a:ext cx="10789920" cy="1234440"/>
          </a:xfrm>
          <a:prstGeom prst="roundRect">
            <a:avLst>
              <a:gd name="adj" fmla="val 6000"/>
            </a:avLst>
          </a:prstGeom>
          <a:solidFill>
            <a:srgbClr val="10161D"/>
          </a:solidFill>
          <a:ln w="12700">
            <a:solidFill>
              <a:srgbClr val="2A3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551176"/>
            <a:ext cx="10387584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>
                <a:solidFill>
                  <a:srgbClr val="C9E3F7"/>
                </a:solidFill>
                <a:latin typeface="Consolas"/>
              </a:rPr>
              <a:t>k·r = 2π·bl·r/λ   with r fixed (NOT scaling with λ)  → chirp in λ, instantaneous freq ~ bl·r/λ²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C9E3F7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C9E3F7"/>
                </a:solidFill>
                <a:latin typeface="Consolas"/>
              </a:rPr>
              <a:t>Fix: Gauss-Legendre quadrature in u = 1/λ (not λ) — k·r = 2π·bl·r·u is constant-frequency in u.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840480"/>
            <a:ext cx="6766560" cy="23774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EAEEF2"/>
                </a:solidFill>
                <a:latin typeface="Calibri"/>
              </a:rPr>
              <a:t>▸  Affects: stellar disk radius (star leak), exozodi inner cutoff r_in — both fixed physical sizes.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EAEEF2"/>
                </a:solidFill>
                <a:latin typeface="Calibri"/>
              </a:rPr>
              <a:t>▸  Does NOT affect local-zodi: R = image_angle(λ) scales linearly with λ by construction → k·R is λ-independent, no chirp.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EAEEF2"/>
                </a:solidFill>
                <a:latin typeface="Calibri"/>
              </a:rPr>
              <a:t>▸  n=8 nodes matches n=64 reference to ~1e-13 (machine precision).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3840480"/>
            <a:ext cx="3657600" cy="1051560"/>
          </a:xfrm>
          <a:prstGeom prst="roundRect">
            <a:avLst>
              <a:gd name="adj" fmla="val 6000"/>
            </a:avLst>
          </a:prstGeom>
          <a:solidFill>
            <a:srgbClr val="1A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3950208"/>
            <a:ext cx="32918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5BA8E0"/>
                </a:solidFill>
                <a:latin typeface="Calibri"/>
              </a:rPr>
              <a:t>≤ 0.3%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4507992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A96A3"/>
                </a:solidFill>
                <a:latin typeface="Calibri"/>
              </a:rPr>
              <a:t>old center-point error, star-leak @ spec_res=20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5029200"/>
            <a:ext cx="3657600" cy="1051560"/>
          </a:xfrm>
          <a:prstGeom prst="roundRect">
            <a:avLst>
              <a:gd name="adj" fmla="val 6000"/>
            </a:avLst>
          </a:prstGeom>
          <a:solidFill>
            <a:srgbClr val="1A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18120" y="5138928"/>
            <a:ext cx="32918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5BA8E0"/>
                </a:solidFill>
                <a:latin typeface="Calibri"/>
              </a:rPr>
              <a:t>≤ 0.03%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5696712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A96A3"/>
                </a:solidFill>
                <a:latin typeface="Calibri"/>
              </a:rPr>
              <a:t>old center-point error, exozodi @ spec_res=20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A96A3"/>
                </a:solidFill>
                <a:latin typeface="Calibri"/>
              </a:rPr>
              <a:t>LIFEsim / AMS — analytic noise rewrite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51052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96A3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5BA8E0"/>
                </a:solidFill>
                <a:latin typeface="Calibri"/>
              </a:rPr>
              <a:t>12 · GENERALIZATION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AEEF2"/>
                </a:solidFill>
                <a:latin typeface="Calibri"/>
              </a:rPr>
              <a:t>Any even nulling order (needed for order-4 thesis runs)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71600"/>
            <a:ext cx="11091672" cy="0"/>
          </a:xfrm>
          <a:prstGeom prst="line">
            <a:avLst/>
          </a:prstGeom>
          <a:ln w="12700">
            <a:solidFill>
              <a:srgbClr val="2A35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645920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8A96A3"/>
                </a:solidFill>
                <a:latin typeface="Calibri"/>
              </a:rPr>
              <a:t>Section 2's closed form was derived only for nulling_order=2 (double Bracewell). Thesis needs order 4.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94560"/>
            <a:ext cx="10789920" cy="1463040"/>
          </a:xfrm>
          <a:prstGeom prst="roundRect">
            <a:avLst>
              <a:gd name="adj" fmla="val 6000"/>
            </a:avLst>
          </a:prstGeom>
          <a:solidFill>
            <a:srgbClr val="10161D"/>
          </a:solidFill>
          <a:ln w="12700">
            <a:solidFill>
              <a:srgbClr val="2A3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322576"/>
            <a:ext cx="10387584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>
                <a:solidFill>
                  <a:srgbClr val="C9E3F7"/>
                </a:solidFill>
                <a:latin typeface="Consolas"/>
              </a:rPr>
              <a:t>tm3 = sin(x·cosθ)ⁿ · cos(ratio·x·sinθ − π/4)²      x = π·bl·r/λ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C9E3F7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C9E3F7"/>
                </a:solidFill>
                <a:latin typeface="Consolas"/>
              </a:rPr>
              <a:t>Odd n: sin(x·cosθ)ⁿ is odd under θ→θ+π → rotation average ≡ 0 identically (not just unsupported)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C9E3F7"/>
                </a:solidFill>
                <a:latin typeface="Consolas"/>
              </a:rPr>
              <a:t>→ matches the physical constraint that nulling order is always even.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84048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8A96A3"/>
                </a:solidFill>
                <a:latin typeface="Calibri"/>
              </a:rPr>
              <a:t>General closed form, nulling_order = 2p: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160520"/>
            <a:ext cx="10789920" cy="777240"/>
          </a:xfrm>
          <a:prstGeom prst="roundRect">
            <a:avLst>
              <a:gd name="adj" fmla="val 6000"/>
            </a:avLst>
          </a:prstGeom>
          <a:solidFill>
            <a:srgbClr val="10161D"/>
          </a:solidFill>
          <a:ln w="12700">
            <a:solidFill>
              <a:srgbClr val="2A3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4288536"/>
            <a:ext cx="10387584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600">
                <a:solidFill>
                  <a:srgbClr val="C9E3F7"/>
                </a:solidFill>
                <a:latin typeface="Consolas"/>
              </a:rPr>
              <a:t>⟨tm⟩ = ½·C(2p,p)/4ᵖ + Σⱼ₌₁ᵖ (−1)ʲ·C(2p,p−j)/4ᵖ · J₀(j·k·r)      k = 2π·bl/λ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120640"/>
            <a:ext cx="10789920" cy="1188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450">
                <a:solidFill>
                  <a:srgbClr val="EAEEF2"/>
                </a:solidFill>
                <a:latin typeface="Calibri"/>
              </a:rPr>
              <a:t>▸  p=1 reproduces the original ¼(1−J₀(kr)). Disk average generalizes the same way (each J₀ → 2J₁/x term).</a:t>
            </a:r>
          </a:p>
          <a:p>
            <a:pPr>
              <a:spcAft>
                <a:spcPts val="600"/>
              </a:spcAft>
            </a:pPr>
            <a:r>
              <a:rPr sz="1450">
                <a:solidFill>
                  <a:srgbClr val="EAEEF2"/>
                </a:solidFill>
                <a:latin typeface="Calibri"/>
              </a:rPr>
              <a:t>▸  Validated: closed-form vs. 2,000,000-pt brute θ-average at orders 2/4/6 — machine precision (~1e-16).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A96A3"/>
                </a:solidFill>
                <a:latin typeface="Calibri"/>
              </a:rPr>
              <a:t>LIFEsim / AMS — analytic noise rewrite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51052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96A3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5BA8E0"/>
                </a:solidFill>
                <a:latin typeface="Calibri"/>
              </a:rPr>
              <a:t>6 ·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AEEF2"/>
                </a:solidFill>
                <a:latin typeface="Calibri"/>
              </a:rPr>
              <a:t>How this was checked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71600"/>
            <a:ext cx="11091672" cy="0"/>
          </a:xfrm>
          <a:prstGeom prst="line">
            <a:avLst/>
          </a:prstGeom>
          <a:ln w="12700">
            <a:solidFill>
              <a:srgbClr val="2A35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48640" y="1691640"/>
            <a:ext cx="10789920" cy="841248"/>
          </a:xfrm>
          <a:prstGeom prst="roundRect">
            <a:avLst>
              <a:gd name="adj" fmla="val 6000"/>
            </a:avLst>
          </a:prstGeom>
          <a:solidFill>
            <a:srgbClr val="1A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01368"/>
            <a:ext cx="3017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5BA8E0"/>
                </a:solidFill>
                <a:latin typeface="Calibri"/>
              </a:rPr>
              <a:t>Single-star, multi-resolution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77639" y="1783080"/>
            <a:ext cx="71780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EAEEF2"/>
                </a:solidFill>
                <a:latin typeface="Calibri"/>
              </a:rPr>
              <a:t>IS=100..1600 vs analytic — error shrinks monotonically to ~0.9% (pre localzodi-fix); first signal something was off.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24328"/>
            <a:ext cx="10789920" cy="841248"/>
          </a:xfrm>
          <a:prstGeom prst="roundRect">
            <a:avLst>
              <a:gd name="adj" fmla="val 6000"/>
            </a:avLst>
          </a:prstGeom>
          <a:solidFill>
            <a:srgbClr val="1A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734056"/>
            <a:ext cx="3017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5BA8E0"/>
                </a:solidFill>
                <a:latin typeface="Calibri"/>
              </a:rPr>
              <a:t>Multi-star (25 random)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39" y="2715768"/>
            <a:ext cx="71780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EAEEF2"/>
                </a:solidFill>
                <a:latin typeface="Calibri"/>
              </a:rPr>
              <a:t>worst-case star-leak 0.5%, exozodi ~1-3%, both taper models, no NaN/negative anywhere.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557016"/>
            <a:ext cx="10789920" cy="841248"/>
          </a:xfrm>
          <a:prstGeom prst="roundRect">
            <a:avLst>
              <a:gd name="adj" fmla="val 6000"/>
            </a:avLst>
          </a:prstGeom>
          <a:solidFill>
            <a:srgbClr val="1A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666744"/>
            <a:ext cx="3017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5BA8E0"/>
                </a:solidFill>
                <a:latin typeface="Calibri"/>
              </a:rPr>
              <a:t>Quadrature self-convergence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7639" y="3648456"/>
            <a:ext cx="71780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EAEEF2"/>
                </a:solidFill>
                <a:latin typeface="Calibri"/>
              </a:rPr>
              <a:t>radial_average_tm n_r=200 vs 20000 at worst-case kR~215: &lt;0.01%. Exozodi n_r=200 vs 2000: 0.001%.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489704"/>
            <a:ext cx="10789920" cy="841248"/>
          </a:xfrm>
          <a:prstGeom prst="roundRect">
            <a:avLst>
              <a:gd name="adj" fmla="val 6000"/>
            </a:avLst>
          </a:prstGeom>
          <a:solidFill>
            <a:srgbClr val="1A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599432"/>
            <a:ext cx="3017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5BA8E0"/>
                </a:solidFill>
                <a:latin typeface="Calibri"/>
              </a:rPr>
              <a:t>Full catalog (729,925 planets)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77639" y="4581144"/>
            <a:ext cx="71780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EAEEF2"/>
                </a:solidFill>
                <a:latin typeface="Calibri"/>
              </a:rPr>
              <a:t>Instrument vs AMS get_snr agree exactly, 0.000 max/median relative difference, after porting fixes.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422392"/>
            <a:ext cx="10789920" cy="841248"/>
          </a:xfrm>
          <a:prstGeom prst="roundRect">
            <a:avLst>
              <a:gd name="adj" fmla="val 6000"/>
            </a:avLst>
          </a:prstGeom>
          <a:solidFill>
            <a:srgbClr val="1A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532120"/>
            <a:ext cx="3017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5BA8E0"/>
                </a:solidFill>
                <a:latin typeface="Calibri"/>
              </a:rPr>
              <a:t>Pre-fix baseline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77639" y="5513831"/>
            <a:ext cx="71780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EAEEF2"/>
                </a:solidFill>
                <a:latin typeface="Calibri"/>
              </a:rPr>
              <a:t>Instrument(fixed) vs AMS(old) showed the expected ~10.9% median deviation — entirely the localzodi bug.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A96A3"/>
                </a:solidFill>
                <a:latin typeface="Calibri"/>
              </a:rPr>
              <a:t>LIFEsim / AMS — analytic noise rewrite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51052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96A3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09A5B"/>
                </a:solidFill>
                <a:latin typeface="Calibri"/>
              </a:rPr>
              <a:t>13 · DECISIONS NEEDED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AEEF2"/>
                </a:solidFill>
                <a:latin typeface="Calibri"/>
              </a:rPr>
              <a:t>Open items — need your sign-off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71600"/>
            <a:ext cx="11091672" cy="0"/>
          </a:xfrm>
          <a:prstGeom prst="line">
            <a:avLst/>
          </a:prstGeom>
          <a:ln w="12700">
            <a:solidFill>
              <a:srgbClr val="2A35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48640" y="1645920"/>
            <a:ext cx="10789920" cy="1051560"/>
          </a:xfrm>
          <a:prstGeom prst="roundRect">
            <a:avLst>
              <a:gd name="adj" fmla="val 6000"/>
            </a:avLst>
          </a:prstGeom>
          <a:solidFill>
            <a:srgbClr val="1A222B"/>
          </a:solidFill>
          <a:ln w="12700">
            <a:solidFill>
              <a:srgbClr val="E0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E06B6B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719072"/>
            <a:ext cx="9966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AEEF2"/>
                </a:solidFill>
                <a:latin typeface="Calibri"/>
              </a:rPr>
              <a:t>Adopt the local-zodi ~27% correction?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048256"/>
            <a:ext cx="9966960" cy="594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8A96A3"/>
                </a:solidFill>
                <a:latin typeface="Calibri"/>
              </a:rPr>
              <a:t>High confidence genuine bug (paper + self-consistency checks agree). Changes existing SNR numbers non-trivially — should be a deliberate, documented decision.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07208"/>
            <a:ext cx="10789920" cy="896112"/>
          </a:xfrm>
          <a:prstGeom prst="roundRect">
            <a:avLst>
              <a:gd name="adj" fmla="val 6000"/>
            </a:avLst>
          </a:prstGeom>
          <a:solidFill>
            <a:srgbClr val="1A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898648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5BA8E0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880360"/>
            <a:ext cx="9966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AEEF2"/>
                </a:solidFill>
                <a:latin typeface="Calibri"/>
              </a:rPr>
              <a:t>Purge image_size from options.py/settings.yaml, or keep for visualization?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209544"/>
            <a:ext cx="99669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8A96A3"/>
                </a:solidFill>
                <a:latin typeface="Calibri"/>
              </a:rPr>
              <a:t>Current state: kept, scoped to the plotting/GUI path only (already discussed).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813048"/>
            <a:ext cx="10789920" cy="896112"/>
          </a:xfrm>
          <a:prstGeom prst="roundRect">
            <a:avLst>
              <a:gd name="adj" fmla="val 6000"/>
            </a:avLst>
          </a:prstGeom>
          <a:solidFill>
            <a:srgbClr val="1A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904487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5BA8E0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886200"/>
            <a:ext cx="9966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AEEF2"/>
                </a:solidFill>
                <a:latin typeface="Calibri"/>
              </a:rPr>
              <a:t>When to delete .bak/.new files and debug scripts?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215384"/>
            <a:ext cx="99669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8A96A3"/>
                </a:solidFill>
                <a:latin typeface="Calibri"/>
              </a:rPr>
              <a:t>Once the above is confirmed.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818888"/>
            <a:ext cx="10789920" cy="1051560"/>
          </a:xfrm>
          <a:prstGeom prst="roundRect">
            <a:avLst>
              <a:gd name="adj" fmla="val 6000"/>
            </a:avLst>
          </a:prstGeom>
          <a:solidFill>
            <a:srgbClr val="1A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910327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5BA8E0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892040"/>
            <a:ext cx="9966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AEEF2"/>
                </a:solidFill>
                <a:latin typeface="Calibri"/>
              </a:rPr>
              <a:t>Thesis text coverage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5221224"/>
            <a:ext cx="9966960" cy="594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8A96A3"/>
                </a:solidFill>
                <a:latin typeface="Calibri"/>
              </a:rPr>
              <a:t>(a) λ point-sampling investigated &amp; found intractable, (b) grid→analytic rewrite + speedup, (c) local-zodi correction as a citable finding, (d) wavenumber-quadrature fix, (e) general even-order closed form.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980175"/>
            <a:ext cx="10789920" cy="1051560"/>
          </a:xfrm>
          <a:prstGeom prst="roundRect">
            <a:avLst>
              <a:gd name="adj" fmla="val 6000"/>
            </a:avLst>
          </a:prstGeom>
          <a:solidFill>
            <a:srgbClr val="1A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6071615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8A96A3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6053327"/>
            <a:ext cx="9966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AEEF2"/>
                </a:solidFill>
                <a:latin typeface="Calibri"/>
              </a:rPr>
              <a:t>Outlook: inclined/elliptical exozodi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6382512"/>
            <a:ext cx="9966960" cy="594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8A96A3"/>
                </a:solidFill>
                <a:latin typeface="Calibri"/>
              </a:rPr>
              <a:t>Current formalism assumes circular symmetry (LIFE paper II default). Lay (2004): inclined disks produce genuine rotation-angle modulation — flag as a natural extension / limitation.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A96A3"/>
                </a:solidFill>
                <a:latin typeface="Calibri"/>
              </a:rPr>
              <a:t>LIFEsim / AMS — analytic noise rewrite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51052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96A3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5BA8E0"/>
                </a:solidFill>
                <a:latin typeface="Calibri"/>
              </a:rPr>
              <a:t>7-8 ·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AEEF2"/>
                </a:solidFill>
                <a:latin typeface="Calibri"/>
              </a:rPr>
              <a:t>Files changed — fully reversible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71600"/>
            <a:ext cx="11091672" cy="0"/>
          </a:xfrm>
          <a:prstGeom prst="line">
            <a:avLst/>
          </a:prstGeom>
          <a:ln w="12700">
            <a:solidFill>
              <a:srgbClr val="2A35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691640"/>
            <a:ext cx="676656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EAEEF2"/>
                </a:solidFill>
                <a:latin typeface="Calibri"/>
              </a:rPr>
              <a:t>▸  transmission_analytic.py (new) — azimuthal_average_tm, disk_average_tm, radial_average_tm, gauss_legendre_wavenumber.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EAEEF2"/>
                </a:solidFill>
                <a:latin typeface="Calibri"/>
              </a:rPr>
              <a:t>▸  pn_star.py, pn_localzodi.py, pn_exozodi.py — grid + socket calls removed, replaced with analytic/quadrature calls.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EAEEF2"/>
                </a:solidFill>
                <a:latin typeface="Calibri"/>
              </a:rPr>
              <a:t>▸  instrument.py — removed now-unnecessary transmission_map() calls feeding the old noise grids.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EAEEF2"/>
                </a:solidFill>
                <a:latin typeface="Calibri"/>
              </a:rPr>
              <a:t>▸  ams.py — same rewrite ported; now delegates to the instrument's own noise modules instead of a duplicated physics copy (~150 lines removed).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EAEEF2"/>
                </a:solidFill>
                <a:latin typeface="Calibri"/>
              </a:rPr>
              <a:t>▸  Explicitly NOT changed: thermal/dark-current noise, planet signal transmission efficiency (already grid-free), transmission_map() itself (still used for GUI/plots).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1691640"/>
            <a:ext cx="4023360" cy="4297680"/>
          </a:xfrm>
          <a:prstGeom prst="roundRect">
            <a:avLst>
              <a:gd name="adj" fmla="val 6000"/>
            </a:avLst>
          </a:prstGeom>
          <a:solidFill>
            <a:srgbClr val="1A222B"/>
          </a:solidFill>
          <a:ln w="12700">
            <a:solidFill>
              <a:srgbClr val="6FC2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0" y="1874519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6FC28A"/>
                </a:solidFill>
                <a:latin typeface="Calibri"/>
              </a:rPr>
              <a:t>SAFE TO REVERT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2286000"/>
            <a:ext cx="356616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EAEEF2"/>
                </a:solidFill>
                <a:latin typeface="Calibri"/>
              </a:rPr>
              <a:t>*.bak = pristine pre-rewrite originals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EAEEF2"/>
                </a:solidFill>
                <a:latin typeface="Calibri"/>
              </a:rPr>
              <a:t>*.new = mid-session rewritten snapshots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EAEEF2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EAEEF2"/>
                </a:solidFill>
                <a:latin typeface="Calibri"/>
              </a:rPr>
              <a:t>Kept until supervisor sign-off — revertible file-by-file if needed.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EAEEF2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EAEEF2"/>
                </a:solidFill>
                <a:latin typeface="Calibri"/>
              </a:rPr>
              <a:t>Debug/validation scripts (untracked, independent of the .bak question):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EAEEF2"/>
                </a:solidFill>
                <a:latin typeface="Calibri"/>
              </a:rPr>
              <a:t>– debug_analytic_noise.py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EAEEF2"/>
                </a:solidFill>
                <a:latin typeface="Calibri"/>
              </a:rPr>
              <a:t>– debug_multi_star_convergence.py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EAEEF2"/>
                </a:solidFill>
                <a:latin typeface="Calibri"/>
              </a:rPr>
              <a:t>– validate_wl_quadrature.py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EAEEF2"/>
                </a:solidFill>
                <a:latin typeface="Calibri"/>
              </a:rPr>
              <a:t>– validate_ams_snr.py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A96A3"/>
                </a:solidFill>
                <a:latin typeface="Calibri"/>
              </a:rPr>
              <a:t>LIFEsim / AMS — analytic noise rewrite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51052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96A3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5BA8E0"/>
                </a:solidFill>
                <a:latin typeface="Calibri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AEEF2"/>
                </a:solidFill>
                <a:latin typeface="Calibri"/>
              </a:rPr>
              <a:t>Where things stand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71600"/>
            <a:ext cx="11091672" cy="0"/>
          </a:xfrm>
          <a:prstGeom prst="line">
            <a:avLst/>
          </a:prstGeom>
          <a:ln w="12700">
            <a:solidFill>
              <a:srgbClr val="2A35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48640" y="1737360"/>
            <a:ext cx="3566160" cy="1371600"/>
          </a:xfrm>
          <a:prstGeom prst="roundRect">
            <a:avLst>
              <a:gd name="adj" fmla="val 6000"/>
            </a:avLst>
          </a:prstGeom>
          <a:solidFill>
            <a:srgbClr val="1A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47088"/>
            <a:ext cx="3200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6FC28A"/>
                </a:solidFill>
                <a:latin typeface="Calibri"/>
              </a:rPr>
              <a:t>~5x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24912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A96A3"/>
                </a:solidFill>
                <a:latin typeface="Calibri"/>
              </a:rPr>
              <a:t>faster get_snr, bit-identical physics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737360"/>
            <a:ext cx="3566160" cy="1371600"/>
          </a:xfrm>
          <a:prstGeom prst="roundRect">
            <a:avLst>
              <a:gd name="adj" fmla="val 6000"/>
            </a:avLst>
          </a:prstGeom>
          <a:solidFill>
            <a:srgbClr val="1A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847088"/>
            <a:ext cx="3200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6FC28A"/>
                </a:solidFill>
                <a:latin typeface="Calibri"/>
              </a:rPr>
              <a:t>4.2e-16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724912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A96A3"/>
                </a:solidFill>
                <a:latin typeface="Calibri"/>
              </a:rPr>
              <a:t>AMS vs Instrument max rel. SNR diff (machine precision)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737360"/>
            <a:ext cx="3566160" cy="1371600"/>
          </a:xfrm>
          <a:prstGeom prst="roundRect">
            <a:avLst>
              <a:gd name="adj" fmla="val 6000"/>
            </a:avLst>
          </a:prstGeom>
          <a:solidFill>
            <a:srgbClr val="1A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847088"/>
            <a:ext cx="3200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06B6B"/>
                </a:solidFill>
                <a:latin typeface="Calibri"/>
              </a:rPr>
              <a:t>1 bug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724912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A96A3"/>
                </a:solidFill>
                <a:latin typeface="Calibri"/>
              </a:rPr>
              <a:t>local-zodi ~27%, pending your sign-off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429000"/>
            <a:ext cx="10789920" cy="23774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EAEEF2"/>
                </a:solidFill>
                <a:latin typeface="Calibri"/>
              </a:rPr>
              <a:t>▸  Math is solid: closed-form rotation average verified to machine precision against brute grids, any even nulling order.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EAEEF2"/>
                </a:solidFill>
                <a:latin typeface="Calibri"/>
              </a:rPr>
              <a:t>▸  One pre-existing bug surfaced (local-zodi), one bug introduced-and-fixed within this work (exozodi log-spacing) — both documented.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EAEEF2"/>
                </a:solidFill>
                <a:latin typeface="Calibri"/>
              </a:rPr>
              <a:t>▸  Everything reversible: .bak originals kept, nothing deleted pending your review.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EAEEF2"/>
                </a:solidFill>
                <a:latin typeface="Calibri"/>
              </a:rPr>
              <a:t>▸  Ask: sign off on the local-zodi correction, and steer on the 4 remaining open items (previous slide).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A96A3"/>
                </a:solidFill>
                <a:latin typeface="Calibri"/>
              </a:rPr>
              <a:t>LIFEsim / AMS — analytic noise rewrite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51052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96A3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